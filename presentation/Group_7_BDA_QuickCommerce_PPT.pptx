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dp" ContentType="image/vnd.ms-photo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108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title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Average orders per customer not percentages</c:v>
                </c:pt>
              </c:strCache>
            </c:strRef>
          </c:tx>
          <c:spPr>
            <a:solidFill>
              <a:srgbClr val="7C2048"/>
            </a:solidFill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251A22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Low-Freq Routine
(6,028 customers)</c:v>
                </c:pt>
                <c:pt idx="1">
                  <c:v>Low-Freq Snack-Led
(2,594 customers)</c:v>
                </c:pt>
                <c:pt idx="2">
                  <c:v>Low-Freq Fresh-Led
(7,853 customers)</c:v>
                </c:pt>
                <c:pt idx="3">
                  <c:v>High-Frequency Bulk
(3,525 customers)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5.9</c:v>
                </c:pt>
                <c:pt idx="1">
                  <c:v>11.4</c:v>
                </c:pt>
                <c:pt idx="2">
                  <c:v>12.3</c:v>
                </c:pt>
                <c:pt idx="3">
                  <c:v>42.1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DBA-4E0C-8418-13C12C9DA77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5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251A22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AUC-ROC</c:v>
                </c:pt>
              </c:strCache>
            </c:strRef>
          </c:tx>
          <c:spPr>
            <a:solidFill>
              <a:srgbClr val="7C2048"/>
            </a:solidFill>
            <a:effectLst/>
          </c:spPr>
          <c:invertIfNegative val="0"/>
          <c:dLbls>
            <c:numFmt formatCode="0.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50" b="0" i="0" u="none" strike="noStrike">
                    <a:solidFill>
                      <a:srgbClr val="251A22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Logistic
Regression</c:v>
                </c:pt>
                <c:pt idx="1">
                  <c:v>Random
Forest</c:v>
                </c:pt>
                <c:pt idx="2">
                  <c:v>Gradient
Boosted Trees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0.82099999999999995</c:v>
                </c:pt>
                <c:pt idx="1">
                  <c:v>0.82099999999999995</c:v>
                </c:pt>
                <c:pt idx="2">
                  <c:v>0.82399999999999995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97F-4D6A-AA55-6BCFF004C0A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PR-AUC</c:v>
                </c:pt>
              </c:strCache>
            </c:strRef>
          </c:tx>
          <c:spPr>
            <a:solidFill>
              <a:srgbClr val="D79A3C"/>
            </a:solidFill>
            <a:effectLst/>
          </c:spPr>
          <c:invertIfNegative val="0"/>
          <c:dLbls>
            <c:numFmt formatCode="0.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50" b="0" i="0" u="none" strike="noStrike">
                    <a:solidFill>
                      <a:srgbClr val="251A22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Logistic
Regression</c:v>
                </c:pt>
                <c:pt idx="1">
                  <c:v>Random
Forest</c:v>
                </c:pt>
                <c:pt idx="2">
                  <c:v>Gradient
Boosted Trees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0.38400000000000001</c:v>
                </c:pt>
                <c:pt idx="1">
                  <c:v>0.39</c:v>
                </c:pt>
                <c:pt idx="2">
                  <c:v>0.39400000000000002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97F-4D6A-AA55-6BCFF004C0A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251A22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7A6670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RMSE (days)</c:v>
                </c:pt>
              </c:strCache>
            </c:strRef>
          </c:tx>
          <c:spPr>
            <a:solidFill>
              <a:srgbClr val="7C2048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E4FD-48B4-93FD-D2DC6F3C3E87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E4FD-48B4-93FD-D2DC6F3C3E87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E4FD-48B4-93FD-D2DC6F3C3E87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7-E4FD-48B4-93FD-D2DC6F3C3E87}"/>
              </c:ext>
            </c:extLst>
          </c:dPt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50" b="0" i="0" u="none" strike="noStrike">
                    <a:solidFill>
                      <a:srgbClr val="251A22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Baseline
(predict mean)</c:v>
                </c:pt>
                <c:pt idx="1">
                  <c:v>Linear
Regression</c:v>
                </c:pt>
                <c:pt idx="2">
                  <c:v>Random
Forest</c:v>
                </c:pt>
                <c:pt idx="3">
                  <c:v>GBT Regressor
(selected)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10.66</c:v>
                </c:pt>
                <c:pt idx="1">
                  <c:v>9.1199999999999992</c:v>
                </c:pt>
                <c:pt idx="2">
                  <c:v>8.32</c:v>
                </c:pt>
                <c:pt idx="3">
                  <c:v>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E4FD-48B4-93FD-D2DC6F3C3E8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251A22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594037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SPEAKER: Abhik Mondal | TIME: 0:45
- Welcome the panel. State the project title and the one-line scope: an end-to-end Big Data Analytics pipeline on the Instacart dataset, framed as a quick commerce consulting engagement.
- Introduce the team briefly by name only, no need to read roll numbers aloud.
- Preview the flow: problem, architecture, engineering and segmentation, predictive modeling, basket optimization, insights and roadmap.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SPEAKER: Vidhi Lunia | TIME: 1:30
- Frame the ten-minute delivery promise and why it is won or lost before the order is placed.
- Walk through the three business questions this project answers: what will they reorder, who is this customer, what sells alongside this item.
- Land on the headline number: 58.9% of purchases are repeats. This is the single fact that makes the whole project viable.
- One line on scale: 3.15 million records in this sample, 32 million in the full dataset, which is why this needed distributed processing rather than a spreadsheet.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SPEAKER: Abhishek Kumar | TIME: 1:45
- Name the six Instacart tables and their approximate sizes, emphasise this is real interlinked data, not a single flat file.
- Walk left to right through the architecture: source data into HDFS-equivalent storage, Sqoop and Flume for structured and event ingestion, PySpark for engineering, MLlib for the models, and a business layer at the end.
- Mention Databricks serverless compute as the platform and that ingestion is a design representation since the source dataset is a static release, stated honestly rather than overstating it as live streaming.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SPEAKER: Nishita Juneja (features, first half) then Paridhi (segmentation, second half) | TIME: 2:15
Nishita (1:00): Explain the three feature grains, user, product and user-product, and briefly explain the candidate generation fix: the naive approach gave an implausible 71% positive rate, the corrected approach matching the Kaggle formulation gives a realistic 9.84%.
Paridhi (1:15): Introduce K-Means segmentation on twelve features spanning volume and behaviour. Walk through the four segments on the chart by name and average orders. Explain why K=4 was chosen over the statistically optimal K=2, for business interpretability. Close on the Low-Frequency Routine finding, a 23.2 day average gap, more than double any other segment.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SPEAKER: Abhik Mondal | TIME: 2:30
- Explain that three classifier families were compared on identical features, not just one model run by default. Gradient Boosted Trees won on PR-AUC, the correct metric given the class imbalance.
- Mention briefly that the winning model was then tuned across a hyperparameter grid and refit on the full training set, landing at AUC-ROC 0.826.
- Highlight the threshold tuning story: the default 0.50 threshold missed over 80% of actual reorders, tuning to 0.20 improved F1 by 1.6 times.
- State the honest negative finding clearly: the customer segment label added almost no predictive value to this specific model, ranking last of fifteen features. This is reported transparently, not hidden.
- Move to the regression panel: this model predicts when the next order will happen, improving error by 25% over a naive baseline, with an R-squared of 0.437.
- Close with the integration point: classification says what, regression says when, together they define dark store replenishment timing.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SPEAKER: Rohit Agarwal | TIME: 1:30
- Clarify the definition up front: this is co-purchase frequency, not product similarity. Milk suggests eggs because they are bought together, not because they resemble each other.
- State the scale: 298,006 baskets analysed, 2,056 rules generated using FP-Growth.
- Walk through one or two example rules from the table, reading the lift number as "how many times more likely than chance."
- Mention per-segment mining briefly, that different segments co-purchase differently, and flag aisle-level mining as the next step for cross-category rules.
- Close on the basket-size number: a median of six items per basket is why attach rate matters so much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SPEAKER: Vidhi Lunia | TIME: 2:00
- Walk through the four insight cards briskly, each is a single sentence plus the supporting number, no need to re-derive them.
- Move to the recommendations table and read each row as recommendation, evidence, and functional owner. Emphasise that every recommendation is tied to a specific number from the analysis, not a general suggestion.
- If time is short, prioritise recommendations 1 and 3, they carry the clearest operational impact.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SPEAKER: Rohit Agarwal (risks) then Nishita Juneja (roadmap and close) | TIME: 1:30
Rohit (0:40): Cover the three risks and their mitigations briefly, emphasise that these are disclosed limitations, not afterthoughts, particularly the US-versus-India data point and the sample-size caveat.
Nishita (0:50): Walk through the four roadmap stages left to right, then read the bottom-line summary card. Close with thank you and open the floor for questions.
ALL MEMBERS: Remain attentive during Q&amp;A, the team should answer as a group and at least one member should be ready to field a technical question on the modeling choices.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microsoft.com/office/2007/relationships/hdphoto" Target="../media/hdphoto1.wdp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411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7C2048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4389120"/>
            <a:ext cx="4114800" cy="4114800"/>
          </a:xfrm>
          <a:prstGeom prst="ellipse">
            <a:avLst/>
          </a:prstGeom>
          <a:solidFill>
            <a:srgbClr val="D79A3C">
              <a:alpha val="10000"/>
            </a:srgbClr>
          </a:solidFill>
          <a:ln/>
        </p:spPr>
      </p:sp>
      <p:pic>
        <p:nvPicPr>
          <p:cNvPr id="4" name="Image 0" descr="icons/c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685800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63040" y="71323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3B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DATA ANALYTICS  –  CONSULTING ENGAGEMENT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822960" y="196596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Quick Commerce Intelligence</a:t>
            </a:r>
            <a:endParaRPr lang="en-US" sz="4600" dirty="0"/>
          </a:p>
        </p:txBody>
      </p:sp>
      <p:sp>
        <p:nvSpPr>
          <p:cNvPr id="7" name="Text 4"/>
          <p:cNvSpPr/>
          <p:nvPr/>
        </p:nvSpPr>
        <p:spPr>
          <a:xfrm>
            <a:off x="822960" y="2880360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700" i="1" dirty="0">
                <a:solidFill>
                  <a:srgbClr val="E3CA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Reordering, Customer Segmentation and Market Basket</a:t>
            </a:r>
            <a:endParaRPr lang="en-US" sz="17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700" i="1" dirty="0">
                <a:solidFill>
                  <a:srgbClr val="E3CA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 Using Big Data Analytics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822960" y="3886200"/>
            <a:ext cx="2743200" cy="0"/>
          </a:xfrm>
          <a:prstGeom prst="line">
            <a:avLst/>
          </a:prstGeom>
          <a:noFill/>
          <a:ln w="31750">
            <a:solidFill>
              <a:srgbClr val="D79A3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22960" y="40690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8B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MBA Business Analytics  |  Trimester IV  |  Course: Big Data Analytics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822960" y="4892040"/>
            <a:ext cx="1627632" cy="777240"/>
          </a:xfrm>
          <a:prstGeom prst="roundRect">
            <a:avLst>
              <a:gd name="adj" fmla="val 7059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7C204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96112" y="4983480"/>
            <a:ext cx="1481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Abhik Mondal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896112" y="5349240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C7A2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A001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2596896" y="4892040"/>
            <a:ext cx="1627632" cy="777240"/>
          </a:xfrm>
          <a:prstGeom prst="roundRect">
            <a:avLst>
              <a:gd name="adj" fmla="val 7059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7C204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670048" y="4983480"/>
            <a:ext cx="1481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Abhishek Kumar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2670048" y="5349240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C7A2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A016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4370832" y="4892040"/>
            <a:ext cx="1627632" cy="777240"/>
          </a:xfrm>
          <a:prstGeom prst="roundRect">
            <a:avLst>
              <a:gd name="adj" fmla="val 7059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7C204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443984" y="4983480"/>
            <a:ext cx="1481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Nishita Juneja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4443984" y="5349240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C7A2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A025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6144768" y="4892040"/>
            <a:ext cx="1627632" cy="777240"/>
          </a:xfrm>
          <a:prstGeom prst="roundRect">
            <a:avLst>
              <a:gd name="adj" fmla="val 7059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7C2048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217920" y="4983480"/>
            <a:ext cx="1481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Paridhi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6217920" y="5349240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C7A2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A062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7918704" y="4892040"/>
            <a:ext cx="1627632" cy="777240"/>
          </a:xfrm>
          <a:prstGeom prst="roundRect">
            <a:avLst>
              <a:gd name="adj" fmla="val 7059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7C2048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991856" y="4983480"/>
            <a:ext cx="1481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Rohit Agarwal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7991856" y="5349240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C7A2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A071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9692640" y="4892040"/>
            <a:ext cx="1627632" cy="777240"/>
          </a:xfrm>
          <a:prstGeom prst="roundRect">
            <a:avLst>
              <a:gd name="adj" fmla="val 7059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7C2048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9765792" y="4983480"/>
            <a:ext cx="1481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Vidhi Lunia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9765792" y="5349240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C7A2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A045</a:t>
            </a:r>
            <a:endParaRPr lang="en-US" sz="950" dirty="0"/>
          </a:p>
        </p:txBody>
      </p:sp>
      <p:sp>
        <p:nvSpPr>
          <p:cNvPr id="28" name="Text 25"/>
          <p:cNvSpPr/>
          <p:nvPr/>
        </p:nvSpPr>
        <p:spPr>
          <a:xfrm>
            <a:off x="822960" y="6172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D8B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7   •   NMIMS School of Business Management, Mumbai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457200" cy="457200"/>
          </a:xfrm>
          <a:prstGeom prst="ellipse">
            <a:avLst/>
          </a:prstGeom>
          <a:solidFill>
            <a:srgbClr val="7C2048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11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143000" y="384048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7C2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43000" y="612648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251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Business Problem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02920" y="1417320"/>
            <a:ext cx="6309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25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commerce platforms compete on a ten-minute delivery promise.
</a:t>
            </a:r>
            <a:endParaRPr lang="en-US" sz="15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25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promise is won before the customer opens the app: the right stock has to already be sitting in the right dark store.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02920" y="2423160"/>
            <a:ext cx="630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i="1" dirty="0">
                <a:solidFill>
                  <a:srgbClr val="7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engagement answers three questions a quick commerce</a:t>
            </a:r>
            <a:endParaRPr lang="en-US" sz="13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350" i="1" dirty="0">
                <a:solidFill>
                  <a:srgbClr val="7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such as Blinkit, Zepto or Swiggy Instamart asks daily: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02920" y="3118104"/>
            <a:ext cx="128016" cy="128016"/>
          </a:xfrm>
          <a:prstGeom prst="ellipse">
            <a:avLst/>
          </a:prstGeom>
          <a:solidFill>
            <a:srgbClr val="D79A3C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3008376"/>
            <a:ext cx="6035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5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will this customer reorder?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77240" y="3282696"/>
            <a:ext cx="6035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7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drives inventory pre-positioning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02920" y="3685032"/>
            <a:ext cx="128016" cy="128016"/>
          </a:xfrm>
          <a:prstGeom prst="ellipse">
            <a:avLst/>
          </a:prstGeom>
          <a:solidFill>
            <a:srgbClr val="D79A3C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3575304"/>
            <a:ext cx="6035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5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kind of customer is this?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77240" y="3849624"/>
            <a:ext cx="6035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7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drives targeted marketing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02920" y="4251960"/>
            <a:ext cx="128016" cy="128016"/>
          </a:xfrm>
          <a:prstGeom prst="ellipse">
            <a:avLst/>
          </a:prstGeom>
          <a:solidFill>
            <a:srgbClr val="D79A3C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4142232"/>
            <a:ext cx="6035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5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sells alongside this item?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77240" y="4416552"/>
            <a:ext cx="6035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7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drives checkout bundling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02920" y="4892040"/>
            <a:ext cx="6309360" cy="1005840"/>
          </a:xfrm>
          <a:prstGeom prst="roundRect">
            <a:avLst>
              <a:gd name="adj" fmla="val 6364"/>
            </a:avLst>
          </a:prstGeom>
          <a:solidFill>
            <a:srgbClr val="F6EAEF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498348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5A1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needs Big Data, not a spreadsheet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85800" y="5257800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5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Excel’s worksheet limit is 1.05 million rows. The joined dataset used here is 3.15 million rows from a 20,000-customer sample, drawn from a full dataset of 32 million records - distributed processing is a requirement, not a preference.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178040" y="1417320"/>
            <a:ext cx="4526280" cy="2331720"/>
          </a:xfrm>
          <a:prstGeom prst="roundRect">
            <a:avLst>
              <a:gd name="adj" fmla="val 3922"/>
            </a:avLst>
          </a:prstGeom>
          <a:solidFill>
            <a:srgbClr val="241129"/>
          </a:solidFill>
          <a:ln/>
        </p:spPr>
      </p:sp>
      <p:sp>
        <p:nvSpPr>
          <p:cNvPr id="21" name="Text 19"/>
          <p:cNvSpPr/>
          <p:nvPr/>
        </p:nvSpPr>
        <p:spPr>
          <a:xfrm>
            <a:off x="7452360" y="164592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E3B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FINDING THAT FRAMES EVERYTHING ELSE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7452360" y="1874520"/>
            <a:ext cx="3977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0" b="1" dirty="0">
                <a:solidFill>
                  <a:srgbClr val="D79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58.9%</a:t>
            </a:r>
            <a:endParaRPr lang="en-US" sz="6800" dirty="0"/>
          </a:p>
        </p:txBody>
      </p:sp>
      <p:sp>
        <p:nvSpPr>
          <p:cNvPr id="23" name="Text 21"/>
          <p:cNvSpPr/>
          <p:nvPr/>
        </p:nvSpPr>
        <p:spPr>
          <a:xfrm>
            <a:off x="7452360" y="2880360"/>
            <a:ext cx="3977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all purchases in the dataset are repeat purchases of a product the customer has bought before.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7178040" y="3977640"/>
            <a:ext cx="2176272" cy="960120"/>
          </a:xfrm>
          <a:prstGeom prst="roundRect">
            <a:avLst>
              <a:gd name="adj" fmla="val 7619"/>
            </a:avLst>
          </a:prstGeom>
          <a:solidFill>
            <a:srgbClr val="F8F4F5"/>
          </a:solidFill>
          <a:ln w="9525">
            <a:solidFill>
              <a:srgbClr val="E9DFE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15200" y="4069080"/>
            <a:ext cx="1901952" cy="55687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5A1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3.15M</a:t>
            </a:r>
            <a:endParaRPr lang="en-US" sz="3000" dirty="0"/>
          </a:p>
        </p:txBody>
      </p:sp>
      <p:sp>
        <p:nvSpPr>
          <p:cNvPr id="26" name="Text 24"/>
          <p:cNvSpPr/>
          <p:nvPr/>
        </p:nvSpPr>
        <p:spPr>
          <a:xfrm>
            <a:off x="7315200" y="4572914"/>
            <a:ext cx="1901952" cy="326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150" dirty="0">
                <a:solidFill>
                  <a:srgbClr val="7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order-product records</a:t>
            </a:r>
            <a:endParaRPr lang="en-US" sz="115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150" dirty="0">
                <a:solidFill>
                  <a:srgbClr val="7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processed (20K-user sample)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9528048" y="3977640"/>
            <a:ext cx="2176272" cy="960120"/>
          </a:xfrm>
          <a:prstGeom prst="roundRect">
            <a:avLst>
              <a:gd name="adj" fmla="val 7619"/>
            </a:avLst>
          </a:prstGeom>
          <a:solidFill>
            <a:srgbClr val="F8F4F5"/>
          </a:solidFill>
          <a:ln w="9525">
            <a:solidFill>
              <a:srgbClr val="E9DFE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665208" y="4069080"/>
            <a:ext cx="1901952" cy="55687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5A1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32M+</a:t>
            </a:r>
            <a:endParaRPr lang="en-US" sz="3000" dirty="0"/>
          </a:p>
        </p:txBody>
      </p:sp>
      <p:sp>
        <p:nvSpPr>
          <p:cNvPr id="29" name="Text 27"/>
          <p:cNvSpPr/>
          <p:nvPr/>
        </p:nvSpPr>
        <p:spPr>
          <a:xfrm>
            <a:off x="9665208" y="4572914"/>
            <a:ext cx="1901952" cy="326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150" dirty="0">
                <a:solidFill>
                  <a:srgbClr val="7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in the full</a:t>
            </a:r>
            <a:endParaRPr lang="en-US" sz="115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150" dirty="0">
                <a:solidFill>
                  <a:srgbClr val="7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Instacart dataset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7178040" y="5074920"/>
            <a:ext cx="2176272" cy="960120"/>
          </a:xfrm>
          <a:prstGeom prst="roundRect">
            <a:avLst>
              <a:gd name="adj" fmla="val 7619"/>
            </a:avLst>
          </a:prstGeom>
          <a:solidFill>
            <a:srgbClr val="F8F4F5"/>
          </a:solidFill>
          <a:ln w="9525">
            <a:solidFill>
              <a:srgbClr val="E9DFE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315200" y="5166360"/>
            <a:ext cx="1901952" cy="55687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5A1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3000" dirty="0"/>
          </a:p>
        </p:txBody>
      </p:sp>
      <p:sp>
        <p:nvSpPr>
          <p:cNvPr id="32" name="Text 30"/>
          <p:cNvSpPr/>
          <p:nvPr/>
        </p:nvSpPr>
        <p:spPr>
          <a:xfrm>
            <a:off x="7315200" y="5670194"/>
            <a:ext cx="1901952" cy="326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150" dirty="0">
                <a:solidFill>
                  <a:srgbClr val="7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interlinked source</a:t>
            </a:r>
            <a:endParaRPr lang="en-US" sz="115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150" dirty="0">
                <a:solidFill>
                  <a:srgbClr val="7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9528048" y="5074920"/>
            <a:ext cx="2176272" cy="960120"/>
          </a:xfrm>
          <a:prstGeom prst="roundRect">
            <a:avLst>
              <a:gd name="adj" fmla="val 7619"/>
            </a:avLst>
          </a:prstGeom>
          <a:solidFill>
            <a:srgbClr val="F8F4F5"/>
          </a:solidFill>
          <a:ln w="9525">
            <a:solidFill>
              <a:srgbClr val="E9DFE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665208" y="5166360"/>
            <a:ext cx="1901952" cy="55687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5A1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200K+</a:t>
            </a:r>
            <a:endParaRPr lang="en-US" sz="3000" dirty="0"/>
          </a:p>
        </p:txBody>
      </p:sp>
      <p:sp>
        <p:nvSpPr>
          <p:cNvPr id="35" name="Text 33"/>
          <p:cNvSpPr/>
          <p:nvPr/>
        </p:nvSpPr>
        <p:spPr>
          <a:xfrm>
            <a:off x="9665208" y="5670194"/>
            <a:ext cx="1901952" cy="326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150" dirty="0">
                <a:solidFill>
                  <a:srgbClr val="7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in the</a:t>
            </a:r>
            <a:endParaRPr lang="en-US" sz="115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150" dirty="0">
                <a:solidFill>
                  <a:srgbClr val="7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published dataset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502920" y="654710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Commerce Intelligence  |  Big Data Analytics  |  NMIMS MBA Business Analytics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1247120" y="6547104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457200" cy="457200"/>
          </a:xfrm>
          <a:prstGeom prst="ellipse">
            <a:avLst/>
          </a:prstGeom>
          <a:solidFill>
            <a:srgbClr val="7C2048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11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143000" y="384048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7C2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ARCHITECTURE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43000" y="612648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251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Overview and Solution Architecture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02920" y="1417320"/>
            <a:ext cx="11201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A1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Instacart Market Basket Analysis (Kaggle, 2017) - six interlinked tables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1783080"/>
            <a:ext cx="11201400" cy="384048"/>
          </a:xfrm>
          <a:prstGeom prst="rect">
            <a:avLst/>
          </a:prstGeom>
          <a:solidFill>
            <a:srgbClr val="241129"/>
          </a:solidFill>
          <a:ln/>
        </p:spPr>
      </p:sp>
      <p:sp>
        <p:nvSpPr>
          <p:cNvPr id="8" name="Text 6"/>
          <p:cNvSpPr/>
          <p:nvPr/>
        </p:nvSpPr>
        <p:spPr>
          <a:xfrm>
            <a:off x="612648" y="178308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538728" y="178308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550408" y="1783080"/>
            <a:ext cx="6080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02920" y="2167128"/>
            <a:ext cx="112014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9DFE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2648" y="2167128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5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538728" y="216712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5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330,791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550408" y="2167128"/>
            <a:ext cx="6080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5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header: user, sequence, day, hour, gap since prior order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02920" y="2551176"/>
            <a:ext cx="11201400" cy="384048"/>
          </a:xfrm>
          <a:prstGeom prst="rect">
            <a:avLst/>
          </a:prstGeom>
          <a:solidFill>
            <a:srgbClr val="F8F4F5"/>
          </a:solidFill>
          <a:ln w="6350">
            <a:solidFill>
              <a:srgbClr val="E9DFE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2648" y="2551176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5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order_products__prior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538728" y="2551176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5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3,163,808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550408" y="2551176"/>
            <a:ext cx="6080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5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items for all historical orders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02920" y="2935224"/>
            <a:ext cx="112014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9DFE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2648" y="2935224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5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order_products__train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538728" y="2935224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5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136,324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550408" y="2935224"/>
            <a:ext cx="6080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5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items for each customer’s next order - our labels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02920" y="3319272"/>
            <a:ext cx="11201400" cy="384048"/>
          </a:xfrm>
          <a:prstGeom prst="rect">
            <a:avLst/>
          </a:prstGeom>
          <a:solidFill>
            <a:srgbClr val="F8F4F5"/>
          </a:solidFill>
          <a:ln w="6350">
            <a:solidFill>
              <a:srgbClr val="E9DFE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12648" y="3319272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5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 / aisles / departments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538728" y="331927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5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49,688 / 134 / 21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550408" y="3319272"/>
            <a:ext cx="6080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5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catalogue and category hierarchy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02920" y="3813048"/>
            <a:ext cx="11201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7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raw volume: 713 MB across 6 files  •  Sample scope for this build: 20,000 customers  •  Pipeline is fully parameterised to run on the full cohort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02920" y="4160520"/>
            <a:ext cx="11201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A1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Architecture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1380744" y="5074920"/>
            <a:ext cx="9445752" cy="0"/>
          </a:xfrm>
          <a:prstGeom prst="line">
            <a:avLst/>
          </a:prstGeom>
          <a:noFill/>
          <a:ln w="19050">
            <a:solidFill>
              <a:srgbClr val="E9DFE3"/>
            </a:solidFill>
            <a:prstDash val="dash"/>
          </a:ln>
        </p:spPr>
      </p:sp>
      <p:sp>
        <p:nvSpPr>
          <p:cNvPr id="30" name="Shape 28"/>
          <p:cNvSpPr/>
          <p:nvPr/>
        </p:nvSpPr>
        <p:spPr>
          <a:xfrm>
            <a:off x="502920" y="4572000"/>
            <a:ext cx="1755648" cy="1417320"/>
          </a:xfrm>
          <a:prstGeom prst="roundRect">
            <a:avLst>
              <a:gd name="adj" fmla="val 5161"/>
            </a:avLst>
          </a:prstGeom>
          <a:solidFill>
            <a:srgbClr val="F8F4F5"/>
          </a:solidFill>
          <a:ln w="9525">
            <a:solidFill>
              <a:srgbClr val="E9DFE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088136" y="4718304"/>
            <a:ext cx="585216" cy="5852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C2048"/>
            </a:solidFill>
            <a:prstDash val="solid"/>
          </a:ln>
        </p:spPr>
      </p:sp>
      <p:pic>
        <p:nvPicPr>
          <p:cNvPr id="32" name="Image 0" descr="icons/sour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4837176"/>
            <a:ext cx="347472" cy="347472"/>
          </a:xfrm>
          <a:prstGeom prst="rect">
            <a:avLst/>
          </a:prstGeom>
        </p:spPr>
      </p:pic>
      <p:sp>
        <p:nvSpPr>
          <p:cNvPr id="33" name="Text 30"/>
          <p:cNvSpPr/>
          <p:nvPr/>
        </p:nvSpPr>
        <p:spPr>
          <a:xfrm>
            <a:off x="557784" y="5358384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5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Data</a:t>
            </a:r>
            <a:endParaRPr lang="en-US" sz="1100" dirty="0"/>
          </a:p>
        </p:txBody>
      </p:sp>
      <p:sp>
        <p:nvSpPr>
          <p:cNvPr id="34" name="Text 31"/>
          <p:cNvSpPr/>
          <p:nvPr/>
        </p:nvSpPr>
        <p:spPr>
          <a:xfrm>
            <a:off x="557784" y="5650992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00" dirty="0">
                <a:solidFill>
                  <a:srgbClr val="7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Instacart tables</a:t>
            </a:r>
            <a:endParaRPr lang="en-US" sz="900" dirty="0"/>
          </a:p>
        </p:txBody>
      </p:sp>
      <p:sp>
        <p:nvSpPr>
          <p:cNvPr id="35" name="Shape 32"/>
          <p:cNvSpPr/>
          <p:nvPr/>
        </p:nvSpPr>
        <p:spPr>
          <a:xfrm>
            <a:off x="2392070" y="4572000"/>
            <a:ext cx="1755648" cy="1417320"/>
          </a:xfrm>
          <a:prstGeom prst="roundRect">
            <a:avLst>
              <a:gd name="adj" fmla="val 5161"/>
            </a:avLst>
          </a:prstGeom>
          <a:solidFill>
            <a:srgbClr val="F8F4F5"/>
          </a:solidFill>
          <a:ln w="9525">
            <a:solidFill>
              <a:srgbClr val="E9DFE3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2977286" y="4718304"/>
            <a:ext cx="585216" cy="5852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C2048"/>
            </a:solidFill>
            <a:prstDash val="solid"/>
          </a:ln>
        </p:spPr>
      </p:sp>
      <p:pic>
        <p:nvPicPr>
          <p:cNvPr id="37" name="Image 1" descr="icons/stor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96158" y="4837176"/>
            <a:ext cx="347472" cy="347472"/>
          </a:xfrm>
          <a:prstGeom prst="rect">
            <a:avLst/>
          </a:prstGeom>
        </p:spPr>
      </p:pic>
      <p:sp>
        <p:nvSpPr>
          <p:cNvPr id="38" name="Text 34"/>
          <p:cNvSpPr/>
          <p:nvPr/>
        </p:nvSpPr>
        <p:spPr>
          <a:xfrm>
            <a:off x="2446934" y="5358384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5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 Storage</a:t>
            </a:r>
            <a:endParaRPr lang="en-US" sz="1100" dirty="0"/>
          </a:p>
        </p:txBody>
      </p:sp>
      <p:sp>
        <p:nvSpPr>
          <p:cNvPr id="39" name="Text 35"/>
          <p:cNvSpPr/>
          <p:nvPr/>
        </p:nvSpPr>
        <p:spPr>
          <a:xfrm>
            <a:off x="2446934" y="5650992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dirty="0">
                <a:solidFill>
                  <a:srgbClr val="7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Unity Catalog Volume (HDFC-Equivalent)</a:t>
            </a:r>
            <a:endParaRPr lang="en-US" sz="900" dirty="0"/>
          </a:p>
        </p:txBody>
      </p:sp>
      <p:sp>
        <p:nvSpPr>
          <p:cNvPr id="40" name="Shape 36"/>
          <p:cNvSpPr/>
          <p:nvPr/>
        </p:nvSpPr>
        <p:spPr>
          <a:xfrm>
            <a:off x="4281221" y="4572000"/>
            <a:ext cx="1755648" cy="1417320"/>
          </a:xfrm>
          <a:prstGeom prst="roundRect">
            <a:avLst>
              <a:gd name="adj" fmla="val 5161"/>
            </a:avLst>
          </a:prstGeom>
          <a:solidFill>
            <a:srgbClr val="F8F4F5"/>
          </a:solidFill>
          <a:ln w="9525">
            <a:solidFill>
              <a:srgbClr val="E9DFE3"/>
            </a:solidFill>
            <a:prstDash val="solid"/>
          </a:ln>
        </p:spPr>
      </p:sp>
      <p:sp>
        <p:nvSpPr>
          <p:cNvPr id="41" name="Shape 37"/>
          <p:cNvSpPr/>
          <p:nvPr/>
        </p:nvSpPr>
        <p:spPr>
          <a:xfrm>
            <a:off x="4866437" y="4718304"/>
            <a:ext cx="585216" cy="5852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C2048"/>
            </a:solidFill>
            <a:prstDash val="solid"/>
          </a:ln>
        </p:spPr>
      </p:sp>
      <p:pic>
        <p:nvPicPr>
          <p:cNvPr id="42" name="Image 2" descr="icons/inges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85309" y="4837176"/>
            <a:ext cx="347472" cy="347472"/>
          </a:xfrm>
          <a:prstGeom prst="rect">
            <a:avLst/>
          </a:prstGeom>
        </p:spPr>
      </p:pic>
      <p:sp>
        <p:nvSpPr>
          <p:cNvPr id="43" name="Text 38"/>
          <p:cNvSpPr/>
          <p:nvPr/>
        </p:nvSpPr>
        <p:spPr>
          <a:xfrm>
            <a:off x="4336085" y="5358384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5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Sqoop + Flume</a:t>
            </a:r>
            <a:endParaRPr lang="en-US" sz="1100" dirty="0"/>
          </a:p>
        </p:txBody>
      </p:sp>
      <p:sp>
        <p:nvSpPr>
          <p:cNvPr id="44" name="Text 39"/>
          <p:cNvSpPr/>
          <p:nvPr/>
        </p:nvSpPr>
        <p:spPr>
          <a:xfrm>
            <a:off x="4336085" y="5650992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00" dirty="0">
                <a:solidFill>
                  <a:srgbClr val="7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+ event ingestion</a:t>
            </a:r>
            <a:endParaRPr lang="en-US" sz="900" dirty="0"/>
          </a:p>
        </p:txBody>
      </p:sp>
      <p:sp>
        <p:nvSpPr>
          <p:cNvPr id="45" name="Shape 40"/>
          <p:cNvSpPr/>
          <p:nvPr/>
        </p:nvSpPr>
        <p:spPr>
          <a:xfrm>
            <a:off x="6170371" y="4572000"/>
            <a:ext cx="1755648" cy="1417320"/>
          </a:xfrm>
          <a:prstGeom prst="roundRect">
            <a:avLst>
              <a:gd name="adj" fmla="val 5161"/>
            </a:avLst>
          </a:prstGeom>
          <a:solidFill>
            <a:srgbClr val="F8F4F5"/>
          </a:solidFill>
          <a:ln w="9525">
            <a:solidFill>
              <a:srgbClr val="E9DFE3"/>
            </a:solidFill>
            <a:prstDash val="solid"/>
          </a:ln>
        </p:spPr>
      </p:sp>
      <p:sp>
        <p:nvSpPr>
          <p:cNvPr id="46" name="Shape 41"/>
          <p:cNvSpPr/>
          <p:nvPr/>
        </p:nvSpPr>
        <p:spPr>
          <a:xfrm>
            <a:off x="6755587" y="4718304"/>
            <a:ext cx="585216" cy="5852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C2048"/>
            </a:solidFill>
            <a:prstDash val="solid"/>
          </a:ln>
        </p:spPr>
      </p:sp>
      <p:pic>
        <p:nvPicPr>
          <p:cNvPr id="47" name="Image 3" descr="icons/engin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74459" y="4837176"/>
            <a:ext cx="347472" cy="347472"/>
          </a:xfrm>
          <a:prstGeom prst="rect">
            <a:avLst/>
          </a:prstGeom>
        </p:spPr>
      </p:pic>
      <p:sp>
        <p:nvSpPr>
          <p:cNvPr id="48" name="Text 42"/>
          <p:cNvSpPr/>
          <p:nvPr/>
        </p:nvSpPr>
        <p:spPr>
          <a:xfrm>
            <a:off x="6225235" y="5358384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5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PySpark Engine</a:t>
            </a:r>
            <a:endParaRPr lang="en-US" sz="1100" dirty="0"/>
          </a:p>
        </p:txBody>
      </p:sp>
      <p:sp>
        <p:nvSpPr>
          <p:cNvPr id="49" name="Text 43"/>
          <p:cNvSpPr/>
          <p:nvPr/>
        </p:nvSpPr>
        <p:spPr>
          <a:xfrm>
            <a:off x="6225235" y="5650992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00" dirty="0">
                <a:solidFill>
                  <a:srgbClr val="7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Joins, features, SparkSQL</a:t>
            </a:r>
            <a:endParaRPr lang="en-US" sz="900" dirty="0"/>
          </a:p>
        </p:txBody>
      </p:sp>
      <p:sp>
        <p:nvSpPr>
          <p:cNvPr id="50" name="Shape 44"/>
          <p:cNvSpPr/>
          <p:nvPr/>
        </p:nvSpPr>
        <p:spPr>
          <a:xfrm>
            <a:off x="8059522" y="4572000"/>
            <a:ext cx="1755648" cy="1417320"/>
          </a:xfrm>
          <a:prstGeom prst="roundRect">
            <a:avLst>
              <a:gd name="adj" fmla="val 5161"/>
            </a:avLst>
          </a:prstGeom>
          <a:solidFill>
            <a:srgbClr val="F8F4F5"/>
          </a:solidFill>
          <a:ln w="9525">
            <a:solidFill>
              <a:srgbClr val="E9DFE3"/>
            </a:solidFill>
            <a:prstDash val="solid"/>
          </a:ln>
        </p:spPr>
      </p:sp>
      <p:sp>
        <p:nvSpPr>
          <p:cNvPr id="51" name="Shape 45"/>
          <p:cNvSpPr/>
          <p:nvPr/>
        </p:nvSpPr>
        <p:spPr>
          <a:xfrm>
            <a:off x="8644738" y="4718304"/>
            <a:ext cx="585216" cy="5852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C2048"/>
            </a:solidFill>
            <a:prstDash val="solid"/>
          </a:ln>
        </p:spPr>
      </p:sp>
      <p:pic>
        <p:nvPicPr>
          <p:cNvPr id="52" name="Image 4" descr="icons/ml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63610" y="4837176"/>
            <a:ext cx="347472" cy="347472"/>
          </a:xfrm>
          <a:prstGeom prst="rect">
            <a:avLst/>
          </a:prstGeom>
        </p:spPr>
      </p:pic>
      <p:sp>
        <p:nvSpPr>
          <p:cNvPr id="53" name="Text 46"/>
          <p:cNvSpPr/>
          <p:nvPr/>
        </p:nvSpPr>
        <p:spPr>
          <a:xfrm>
            <a:off x="8114386" y="5358384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5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MLlib Models</a:t>
            </a:r>
            <a:endParaRPr lang="en-US" sz="1100" dirty="0"/>
          </a:p>
        </p:txBody>
      </p:sp>
      <p:sp>
        <p:nvSpPr>
          <p:cNvPr id="54" name="Text 47"/>
          <p:cNvSpPr/>
          <p:nvPr/>
        </p:nvSpPr>
        <p:spPr>
          <a:xfrm>
            <a:off x="8114386" y="5650992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00" dirty="0">
                <a:solidFill>
                  <a:srgbClr val="7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K-Means, GBT, FP-Growth</a:t>
            </a:r>
            <a:endParaRPr lang="en-US" sz="900" dirty="0"/>
          </a:p>
        </p:txBody>
      </p:sp>
      <p:sp>
        <p:nvSpPr>
          <p:cNvPr id="55" name="Shape 48"/>
          <p:cNvSpPr/>
          <p:nvPr/>
        </p:nvSpPr>
        <p:spPr>
          <a:xfrm>
            <a:off x="9948672" y="4572000"/>
            <a:ext cx="1755648" cy="1417320"/>
          </a:xfrm>
          <a:prstGeom prst="roundRect">
            <a:avLst>
              <a:gd name="adj" fmla="val 5161"/>
            </a:avLst>
          </a:prstGeom>
          <a:solidFill>
            <a:srgbClr val="241129"/>
          </a:solidFill>
          <a:ln w="9525">
            <a:solidFill>
              <a:srgbClr val="E9DFE3"/>
            </a:solidFill>
            <a:prstDash val="solid"/>
          </a:ln>
        </p:spPr>
      </p:sp>
      <p:sp>
        <p:nvSpPr>
          <p:cNvPr id="56" name="Shape 49"/>
          <p:cNvSpPr/>
          <p:nvPr/>
        </p:nvSpPr>
        <p:spPr>
          <a:xfrm>
            <a:off x="10533888" y="4718304"/>
            <a:ext cx="585216" cy="5852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C2048"/>
            </a:solidFill>
            <a:prstDash val="solid"/>
          </a:ln>
        </p:spPr>
      </p:sp>
      <p:pic>
        <p:nvPicPr>
          <p:cNvPr id="57" name="Image 5" descr="icons/business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652760" y="4837176"/>
            <a:ext cx="347472" cy="347472"/>
          </a:xfrm>
          <a:prstGeom prst="rect">
            <a:avLst/>
          </a:prstGeom>
        </p:spPr>
      </p:pic>
      <p:sp>
        <p:nvSpPr>
          <p:cNvPr id="58" name="Text 50"/>
          <p:cNvSpPr/>
          <p:nvPr/>
        </p:nvSpPr>
        <p:spPr>
          <a:xfrm>
            <a:off x="10003536" y="5358384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Layer</a:t>
            </a:r>
            <a:endParaRPr lang="en-US" sz="1100" dirty="0"/>
          </a:p>
        </p:txBody>
      </p:sp>
      <p:sp>
        <p:nvSpPr>
          <p:cNvPr id="59" name="Text 51"/>
          <p:cNvSpPr/>
          <p:nvPr/>
        </p:nvSpPr>
        <p:spPr>
          <a:xfrm>
            <a:off x="10003536" y="5650992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00" dirty="0">
                <a:solidFill>
                  <a:srgbClr val="D8B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recommendations</a:t>
            </a:r>
            <a:endParaRPr lang="en-US" sz="900" dirty="0"/>
          </a:p>
        </p:txBody>
      </p:sp>
      <p:sp>
        <p:nvSpPr>
          <p:cNvPr id="60" name="Text 52"/>
          <p:cNvSpPr/>
          <p:nvPr/>
        </p:nvSpPr>
        <p:spPr>
          <a:xfrm>
            <a:off x="502920" y="654710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Commerce Intelligence  |  Big Data Analytics  |  NMIMS MBA Business Analytics</a:t>
            </a:r>
            <a:endParaRPr lang="en-US" sz="900" dirty="0"/>
          </a:p>
        </p:txBody>
      </p:sp>
      <p:sp>
        <p:nvSpPr>
          <p:cNvPr id="61" name="Text 53"/>
          <p:cNvSpPr/>
          <p:nvPr/>
        </p:nvSpPr>
        <p:spPr>
          <a:xfrm>
            <a:off x="11247120" y="6547104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8</a:t>
            </a:r>
            <a:endParaRPr lang="en-US" sz="900" dirty="0"/>
          </a:p>
        </p:txBody>
      </p:sp>
      <p:pic>
        <p:nvPicPr>
          <p:cNvPr id="63" name="Picture 62">
            <a:extLst>
              <a:ext uri="{FF2B5EF4-FFF2-40B4-BE49-F238E27FC236}">
                <a16:creationId xmlns:a16="http://schemas.microsoft.com/office/drawing/2014/main" id="{2C1E2097-4748-0442-6675-7E6A8205D870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10000" b="90000" l="10000" r="90000">
                        <a14:foregroundMark x1="22350" y1="48544" x2="22350" y2="48544"/>
                        <a14:foregroundMark x1="21889" y1="53398" x2="21889" y2="53398"/>
                        <a14:foregroundMark x1="29493" y1="44660" x2="29493" y2="44660"/>
                        <a14:foregroundMark x1="29263" y1="47573" x2="29263" y2="47573"/>
                        <a14:foregroundMark x1="32258" y1="47896" x2="32258" y2="47896"/>
                        <a14:foregroundMark x1="52074" y1="55016" x2="52074" y2="55016"/>
                        <a14:foregroundMark x1="58295" y1="53074" x2="58295" y2="53074"/>
                        <a14:foregroundMark x1="68894" y1="51456" x2="68894" y2="51456"/>
                        <a14:foregroundMark x1="75346" y1="50162" x2="75346" y2="50162"/>
                        <a14:foregroundMark x1="79954" y1="47896" x2="79954" y2="47896"/>
                        <a14:backgroundMark x1="53917" y1="54045" x2="53917" y2="54045"/>
                        <a14:backgroundMark x1="69585" y1="53722" x2="69585" y2="53722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182476" y="931982"/>
            <a:ext cx="1708785" cy="121662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457200" cy="457200"/>
          </a:xfrm>
          <a:prstGeom prst="ellipse">
            <a:avLst/>
          </a:prstGeom>
          <a:solidFill>
            <a:srgbClr val="7C2048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11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143000" y="384048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7C2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WORK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43000" y="612648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251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Engineering and Customer Segmentation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02920" y="141732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5A1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 across three grains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02920" y="1783080"/>
            <a:ext cx="5394960" cy="566928"/>
          </a:xfrm>
          <a:prstGeom prst="roundRect">
            <a:avLst>
              <a:gd name="adj" fmla="val 9677"/>
            </a:avLst>
          </a:prstGeom>
          <a:solidFill>
            <a:srgbClr val="F8F4F5"/>
          </a:solidFill>
          <a:ln w="6350">
            <a:solidFill>
              <a:srgbClr val="E9DFE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837944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5A1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2011680" y="1837944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D79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features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3063240" y="1837944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7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frequency, basket size, reorder rate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02920" y="2459736"/>
            <a:ext cx="5394960" cy="566928"/>
          </a:xfrm>
          <a:prstGeom prst="roundRect">
            <a:avLst>
              <a:gd name="adj" fmla="val 9677"/>
            </a:avLst>
          </a:prstGeom>
          <a:solidFill>
            <a:srgbClr val="F8F4F5"/>
          </a:solidFill>
          <a:ln w="6350">
            <a:solidFill>
              <a:srgbClr val="E9DFE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25146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5A1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2011680" y="2514600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D79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features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063240" y="25146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7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popularity, reorder probability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02920" y="3136392"/>
            <a:ext cx="5394960" cy="566928"/>
          </a:xfrm>
          <a:prstGeom prst="roundRect">
            <a:avLst>
              <a:gd name="adj" fmla="val 9677"/>
            </a:avLst>
          </a:prstGeom>
          <a:solidFill>
            <a:srgbClr val="F8F4F5"/>
          </a:solidFill>
          <a:ln w="6350">
            <a:solidFill>
              <a:srgbClr val="E9DFE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3191256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5A1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× Product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2011680" y="3191256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D79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features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3063240" y="3191256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7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recency and consistency of purchase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02920" y="3886200"/>
            <a:ext cx="5394960" cy="1444752"/>
          </a:xfrm>
          <a:prstGeom prst="roundRect">
            <a:avLst>
              <a:gd name="adj" fmla="val 5185"/>
            </a:avLst>
          </a:prstGeom>
          <a:solidFill>
            <a:srgbClr val="F6EAEF"/>
          </a:solidFill>
          <a:ln/>
        </p:spPr>
      </p:sp>
      <p:sp>
        <p:nvSpPr>
          <p:cNvPr id="20" name="Text 18"/>
          <p:cNvSpPr/>
          <p:nvPr/>
        </p:nvSpPr>
        <p:spPr>
          <a:xfrm>
            <a:off x="667512" y="3995928"/>
            <a:ext cx="5065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A1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critical fix: candidate generation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67512" y="4270248"/>
            <a:ext cx="50657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5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naive label set (only products in the next order) produces 71% positive labels - implausible. The corrected set uses every product ever purchased, labelled by whether it reappears. This matches the original Kaggle formulation.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67512" y="4968555"/>
            <a:ext cx="5065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5A1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813,934 labelled pairs at 9.84% positive - realistic and usable.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263640" y="1417320"/>
            <a:ext cx="5440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5A1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segmentation - K-Means on 12 features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6263640" y="1691640"/>
            <a:ext cx="5440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7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features alone (orders, basket size) only separate heavy from light users. Adding timing and category-mix features reveals segments that differ in what and when customers buy.</a:t>
            </a:r>
            <a:endParaRPr lang="en-US" sz="1050" dirty="0"/>
          </a:p>
        </p:txBody>
      </p:sp>
      <p:graphicFrame>
        <p:nvGraphicFramePr>
          <p:cNvPr id="25" name="Chart 0"/>
          <p:cNvGraphicFramePr/>
          <p:nvPr>
            <p:extLst>
              <p:ext uri="{D42A27DB-BD31-4B8C-83A1-F6EECF244321}">
                <p14:modId xmlns:p14="http://schemas.microsoft.com/office/powerpoint/2010/main" val="4261479455"/>
              </p:ext>
            </p:extLst>
          </p:nvPr>
        </p:nvGraphicFramePr>
        <p:xfrm>
          <a:off x="6263640" y="2240280"/>
          <a:ext cx="5440680" cy="2331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6" name="Text 23"/>
          <p:cNvSpPr/>
          <p:nvPr/>
        </p:nvSpPr>
        <p:spPr>
          <a:xfrm>
            <a:off x="6263640" y="4709160"/>
            <a:ext cx="5440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i="1" dirty="0">
                <a:solidFill>
                  <a:srgbClr val="7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 K = 4 for business interpretability (statistical optimum K = 2 gives only two undifferentiated groups)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6263640" y="5257800"/>
            <a:ext cx="5440680" cy="868680"/>
          </a:xfrm>
          <a:prstGeom prst="roundRect">
            <a:avLst>
              <a:gd name="adj" fmla="val 7368"/>
            </a:avLst>
          </a:prstGeom>
          <a:solidFill>
            <a:srgbClr val="241129"/>
          </a:solidFill>
          <a:ln/>
        </p:spPr>
      </p:sp>
      <p:sp>
        <p:nvSpPr>
          <p:cNvPr id="28" name="Text 25"/>
          <p:cNvSpPr/>
          <p:nvPr/>
        </p:nvSpPr>
        <p:spPr>
          <a:xfrm>
            <a:off x="6446520" y="5349240"/>
            <a:ext cx="5074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Low-Frequency Routine customers reorder every 23.2 days on average, more than double any other segment - the clearest subscription target in the base.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502920" y="654710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Commerce Intelligence  |  Big Data Analytics  |  NMIMS MBA Business Analytics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11247120" y="6547104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457200" cy="457200"/>
          </a:xfrm>
          <a:prstGeom prst="ellipse">
            <a:avLst/>
          </a:prstGeom>
          <a:solidFill>
            <a:srgbClr val="7C2048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11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143000" y="384048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7C2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43000" y="612648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251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Predictive Modeling: What and When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02920" y="1371600"/>
            <a:ext cx="5989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5A1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Reorder prediction - three models compared</a:t>
            </a:r>
            <a:endParaRPr lang="en-US" sz="135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502920" y="1691640"/>
          <a:ext cx="5989320" cy="1965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Text 5"/>
          <p:cNvSpPr/>
          <p:nvPr/>
        </p:nvSpPr>
        <p:spPr>
          <a:xfrm>
            <a:off x="502920" y="3794760"/>
            <a:ext cx="5989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7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Boosted Trees selected on PR-AUC (the correct metric for a 9.84% positive class), then tuned across a hyperparameter grid and refit on the full training set.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502920" y="4389120"/>
            <a:ext cx="1920240" cy="914400"/>
          </a:xfrm>
          <a:prstGeom prst="roundRect">
            <a:avLst>
              <a:gd name="adj" fmla="val 8000"/>
            </a:avLst>
          </a:prstGeom>
          <a:solidFill>
            <a:srgbClr val="F8F4F5"/>
          </a:solidFill>
          <a:ln w="9525">
            <a:solidFill>
              <a:srgbClr val="E9DFE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0080" y="4480560"/>
            <a:ext cx="1645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5A1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0.826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640080" y="4956048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150" dirty="0">
                <a:solidFill>
                  <a:srgbClr val="7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AUC-ROC</a:t>
            </a:r>
            <a:endParaRPr lang="en-US" sz="115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150" dirty="0">
                <a:solidFill>
                  <a:srgbClr val="7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(0.0045 train-test gap)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2560320" y="4389120"/>
            <a:ext cx="1920240" cy="914400"/>
          </a:xfrm>
          <a:prstGeom prst="roundRect">
            <a:avLst>
              <a:gd name="adj" fmla="val 8000"/>
            </a:avLst>
          </a:prstGeom>
          <a:solidFill>
            <a:srgbClr val="F8F4F5"/>
          </a:solidFill>
          <a:ln w="9525">
            <a:solidFill>
              <a:srgbClr val="E9DFE3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697480" y="4480560"/>
            <a:ext cx="1645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D79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1.6x</a:t>
            </a:r>
            <a:endParaRPr lang="en-US" sz="2400" dirty="0"/>
          </a:p>
        </p:txBody>
      </p:sp>
      <p:sp>
        <p:nvSpPr>
          <p:cNvPr id="14" name="Text 11"/>
          <p:cNvSpPr/>
          <p:nvPr/>
        </p:nvSpPr>
        <p:spPr>
          <a:xfrm>
            <a:off x="2697480" y="4956048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150" dirty="0">
                <a:solidFill>
                  <a:srgbClr val="7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improvement from</a:t>
            </a:r>
            <a:endParaRPr lang="en-US" sz="115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150" dirty="0">
                <a:solidFill>
                  <a:srgbClr val="7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tuning the threshold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4617720" y="4389120"/>
            <a:ext cx="1874520" cy="914400"/>
          </a:xfrm>
          <a:prstGeom prst="roundRect">
            <a:avLst>
              <a:gd name="adj" fmla="val 8000"/>
            </a:avLst>
          </a:prstGeom>
          <a:solidFill>
            <a:srgbClr val="F8F4F5"/>
          </a:solidFill>
          <a:ln w="9525">
            <a:solidFill>
              <a:srgbClr val="E9DFE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754880" y="4480560"/>
            <a:ext cx="1600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5A1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0.431</a:t>
            </a:r>
            <a:endParaRPr lang="en-US" sz="2400" dirty="0"/>
          </a:p>
        </p:txBody>
      </p:sp>
      <p:sp>
        <p:nvSpPr>
          <p:cNvPr id="17" name="Text 14"/>
          <p:cNvSpPr/>
          <p:nvPr/>
        </p:nvSpPr>
        <p:spPr>
          <a:xfrm>
            <a:off x="4754880" y="4956048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150" dirty="0">
                <a:solidFill>
                  <a:srgbClr val="7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F1 at the</a:t>
            </a:r>
            <a:endParaRPr lang="en-US" sz="115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150" dirty="0">
                <a:solidFill>
                  <a:srgbClr val="7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tuned 0.20 threshold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502920" y="5440680"/>
            <a:ext cx="5989320" cy="822960"/>
          </a:xfrm>
          <a:prstGeom prst="roundRect">
            <a:avLst>
              <a:gd name="adj" fmla="val 7778"/>
            </a:avLst>
          </a:prstGeom>
          <a:solidFill>
            <a:srgbClr val="F6EAEF"/>
          </a:solidFill>
          <a:ln/>
        </p:spPr>
      </p:sp>
      <p:sp>
        <p:nvSpPr>
          <p:cNvPr id="19" name="Text 16"/>
          <p:cNvSpPr/>
          <p:nvPr/>
        </p:nvSpPr>
        <p:spPr>
          <a:xfrm>
            <a:off x="667512" y="5513832"/>
            <a:ext cx="56601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i="1" dirty="0">
                <a:solidFill>
                  <a:srgbClr val="5A1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finding: the customer segment label ranked last of 15 features (importance 0.0009). Purchase history with the specific product, not the customer’s segment, drives the prediction.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6766560" y="137160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5A1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Reorder timing - when will they order again</a:t>
            </a:r>
            <a:endParaRPr lang="en-US" sz="1350" dirty="0"/>
          </a:p>
        </p:txBody>
      </p:sp>
      <p:sp>
        <p:nvSpPr>
          <p:cNvPr id="21" name="Text 18"/>
          <p:cNvSpPr/>
          <p:nvPr/>
        </p:nvSpPr>
        <p:spPr>
          <a:xfrm>
            <a:off x="6766560" y="164592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7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predicts what a customer will reorder. This model predicts when - the operational half of dark store planning.</a:t>
            </a:r>
            <a:endParaRPr lang="en-US" sz="1050" dirty="0"/>
          </a:p>
        </p:txBody>
      </p:sp>
      <p:graphicFrame>
        <p:nvGraphicFramePr>
          <p:cNvPr id="22" name="Chart 1"/>
          <p:cNvGraphicFramePr/>
          <p:nvPr/>
        </p:nvGraphicFramePr>
        <p:xfrm>
          <a:off x="6766560" y="2148840"/>
          <a:ext cx="4937760" cy="1874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3" name="Shape 19"/>
          <p:cNvSpPr/>
          <p:nvPr/>
        </p:nvSpPr>
        <p:spPr>
          <a:xfrm>
            <a:off x="6766560" y="4251960"/>
            <a:ext cx="2377440" cy="960120"/>
          </a:xfrm>
          <a:prstGeom prst="roundRect">
            <a:avLst>
              <a:gd name="adj" fmla="val 7619"/>
            </a:avLst>
          </a:prstGeom>
          <a:solidFill>
            <a:srgbClr val="F8F4F5"/>
          </a:solidFill>
          <a:ln w="9525">
            <a:solidFill>
              <a:srgbClr val="E9DFE3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6903720" y="4343400"/>
            <a:ext cx="2103120" cy="55687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D79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25%</a:t>
            </a:r>
            <a:endParaRPr lang="en-US" sz="3000" dirty="0"/>
          </a:p>
        </p:txBody>
      </p:sp>
      <p:sp>
        <p:nvSpPr>
          <p:cNvPr id="25" name="Text 21"/>
          <p:cNvSpPr/>
          <p:nvPr/>
        </p:nvSpPr>
        <p:spPr>
          <a:xfrm>
            <a:off x="6903720" y="4847234"/>
            <a:ext cx="2103120" cy="326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150" dirty="0">
                <a:solidFill>
                  <a:srgbClr val="7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error than the</a:t>
            </a:r>
            <a:endParaRPr lang="en-US" sz="115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150" dirty="0">
                <a:solidFill>
                  <a:srgbClr val="7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mean-only baseline</a:t>
            </a:r>
            <a:endParaRPr lang="en-US" sz="1150" dirty="0"/>
          </a:p>
        </p:txBody>
      </p:sp>
      <p:sp>
        <p:nvSpPr>
          <p:cNvPr id="26" name="Shape 22"/>
          <p:cNvSpPr/>
          <p:nvPr/>
        </p:nvSpPr>
        <p:spPr>
          <a:xfrm>
            <a:off x="9326880" y="4251960"/>
            <a:ext cx="2377440" cy="960120"/>
          </a:xfrm>
          <a:prstGeom prst="roundRect">
            <a:avLst>
              <a:gd name="adj" fmla="val 7619"/>
            </a:avLst>
          </a:prstGeom>
          <a:solidFill>
            <a:srgbClr val="F8F4F5"/>
          </a:solidFill>
          <a:ln w="9525">
            <a:solidFill>
              <a:srgbClr val="E9DFE3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9464040" y="4343400"/>
            <a:ext cx="2103120" cy="55687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5A1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0.437</a:t>
            </a:r>
            <a:endParaRPr lang="en-US" sz="3000" dirty="0"/>
          </a:p>
        </p:txBody>
      </p:sp>
      <p:sp>
        <p:nvSpPr>
          <p:cNvPr id="28" name="Text 24"/>
          <p:cNvSpPr/>
          <p:nvPr/>
        </p:nvSpPr>
        <p:spPr>
          <a:xfrm>
            <a:off x="9464040" y="4847234"/>
            <a:ext cx="2103120" cy="326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150" dirty="0">
                <a:solidFill>
                  <a:srgbClr val="7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- a meaningful</a:t>
            </a:r>
            <a:endParaRPr lang="en-US" sz="115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150" dirty="0">
                <a:solidFill>
                  <a:srgbClr val="7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for a noisy target</a:t>
            </a:r>
            <a:endParaRPr lang="en-US" sz="1150" dirty="0"/>
          </a:p>
        </p:txBody>
      </p:sp>
      <p:sp>
        <p:nvSpPr>
          <p:cNvPr id="29" name="Shape 25"/>
          <p:cNvSpPr/>
          <p:nvPr/>
        </p:nvSpPr>
        <p:spPr>
          <a:xfrm>
            <a:off x="6766560" y="5349240"/>
            <a:ext cx="4937760" cy="914400"/>
          </a:xfrm>
          <a:prstGeom prst="roundRect">
            <a:avLst>
              <a:gd name="adj" fmla="val 7000"/>
            </a:avLst>
          </a:prstGeom>
          <a:solidFill>
            <a:srgbClr val="241129"/>
          </a:solidFill>
          <a:ln/>
        </p:spPr>
      </p:sp>
      <p:sp>
        <p:nvSpPr>
          <p:cNvPr id="30" name="Text 26"/>
          <p:cNvSpPr/>
          <p:nvPr/>
        </p:nvSpPr>
        <p:spPr>
          <a:xfrm>
            <a:off x="6949440" y="544068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together, classification ranks WHICH products a customer will repurchase and this model estimates WHEN - defining what to hold in the dark store and by when.</a:t>
            </a:r>
            <a:endParaRPr lang="en-US" sz="1050" dirty="0"/>
          </a:p>
        </p:txBody>
      </p:sp>
      <p:sp>
        <p:nvSpPr>
          <p:cNvPr id="31" name="Text 27"/>
          <p:cNvSpPr/>
          <p:nvPr/>
        </p:nvSpPr>
        <p:spPr>
          <a:xfrm>
            <a:off x="502920" y="654710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Commerce Intelligence  |  Big Data Analytics  |  NMIMS MBA Business Analytics</a:t>
            </a:r>
            <a:endParaRPr lang="en-US" sz="900" dirty="0"/>
          </a:p>
        </p:txBody>
      </p:sp>
      <p:sp>
        <p:nvSpPr>
          <p:cNvPr id="32" name="Text 28"/>
          <p:cNvSpPr/>
          <p:nvPr/>
        </p:nvSpPr>
        <p:spPr>
          <a:xfrm>
            <a:off x="11247120" y="6547104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457200" cy="457200"/>
          </a:xfrm>
          <a:prstGeom prst="ellipse">
            <a:avLst/>
          </a:prstGeom>
          <a:solidFill>
            <a:srgbClr val="7C2048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11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143000" y="384048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7C2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43000" y="612648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251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Market Basket Optimization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02920" y="14173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5A1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Co-purchase frequency, not similarity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02920" y="173736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5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customer adds milk, we suggest eggs because the two are frequently bought in the same basket - not because eggs resemble milk. FP-Growth mines these association rules directly from 298,006 baskets.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02920" y="2743200"/>
            <a:ext cx="2423160" cy="1051560"/>
          </a:xfrm>
          <a:prstGeom prst="roundRect">
            <a:avLst>
              <a:gd name="adj" fmla="val 6957"/>
            </a:avLst>
          </a:prstGeom>
          <a:solidFill>
            <a:srgbClr val="F8F4F5"/>
          </a:solidFill>
          <a:ln w="9525">
            <a:solidFill>
              <a:srgbClr val="E9DFE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834640"/>
            <a:ext cx="2148840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5A1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298,006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640080" y="3395167"/>
            <a:ext cx="2148840" cy="357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150" dirty="0">
                <a:solidFill>
                  <a:srgbClr val="7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baskets</a:t>
            </a:r>
            <a:endParaRPr lang="en-US" sz="115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150" dirty="0">
                <a:solidFill>
                  <a:srgbClr val="7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analysed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108960" y="2743200"/>
            <a:ext cx="2423160" cy="1051560"/>
          </a:xfrm>
          <a:prstGeom prst="roundRect">
            <a:avLst>
              <a:gd name="adj" fmla="val 6957"/>
            </a:avLst>
          </a:prstGeom>
          <a:solidFill>
            <a:srgbClr val="F8F4F5"/>
          </a:solidFill>
          <a:ln w="9525">
            <a:solidFill>
              <a:srgbClr val="E9DFE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46120" y="2834640"/>
            <a:ext cx="2148840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D79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2,056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3246120" y="3395167"/>
            <a:ext cx="2148840" cy="357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150" dirty="0">
                <a:solidFill>
                  <a:srgbClr val="7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association rules</a:t>
            </a:r>
            <a:endParaRPr lang="en-US" sz="115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150" dirty="0">
                <a:solidFill>
                  <a:srgbClr val="7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02920" y="3977640"/>
            <a:ext cx="5029200" cy="1417320"/>
          </a:xfrm>
          <a:prstGeom prst="roundRect">
            <a:avLst>
              <a:gd name="adj" fmla="val 5161"/>
            </a:avLst>
          </a:prstGeom>
          <a:solidFill>
            <a:srgbClr val="F6EAEF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411480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5A1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Per-segment mining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85800" y="4407408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5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mined separately per customer segment surface different patterns. The High-Frequency Bulk segment alone yielded 3,524 reliable rules from 144,736 baskets - a single global rule set would under-serve every segment.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" y="553212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i="1" dirty="0">
                <a:solidFill>
                  <a:srgbClr val="7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Cross-category rules (bread + eggs) need aisle-level mining - flagged as immediate future work.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852160" y="141732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5A1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Checkout suggestion rules - top examples by lift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5852160" y="1783080"/>
            <a:ext cx="5852160" cy="365760"/>
          </a:xfrm>
          <a:prstGeom prst="rect">
            <a:avLst/>
          </a:prstGeom>
          <a:solidFill>
            <a:srgbClr val="241129"/>
          </a:solidFill>
          <a:ln/>
        </p:spPr>
      </p:sp>
      <p:sp>
        <p:nvSpPr>
          <p:cNvPr id="20" name="Text 18"/>
          <p:cNvSpPr/>
          <p:nvPr/>
        </p:nvSpPr>
        <p:spPr>
          <a:xfrm>
            <a:off x="5980176" y="17830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customer adds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631936" y="17830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0460736" y="17830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1192256" y="178308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Lift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852160" y="2148840"/>
            <a:ext cx="5852160" cy="658368"/>
          </a:xfrm>
          <a:prstGeom prst="rect">
            <a:avLst/>
          </a:prstGeom>
          <a:solidFill>
            <a:srgbClr val="F8F4F5"/>
          </a:solidFill>
          <a:ln w="6350">
            <a:solidFill>
              <a:srgbClr val="E9DFE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80176" y="2148840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5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Sparkling Water Berry +</a:t>
            </a:r>
            <a:endParaRPr lang="en-US" sz="10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5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Lime Sparkling Water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8631936" y="2148840"/>
            <a:ext cx="1645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5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Sparkling Water</a:t>
            </a:r>
            <a:endParaRPr lang="en-US" sz="10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5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Grapefruit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10460736" y="2148840"/>
            <a:ext cx="548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5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0.709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11192256" y="2148840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D79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28.3×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852160" y="2807208"/>
            <a:ext cx="585216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9DFE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980176" y="2807208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5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Greek Yogurt Blueberry +</a:t>
            </a:r>
            <a:endParaRPr lang="en-US" sz="10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5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Greek Yogurt Peach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8631936" y="2807208"/>
            <a:ext cx="1645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5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Greek Yogurt</a:t>
            </a:r>
            <a:endParaRPr lang="en-US" sz="10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5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Strawberry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10460736" y="2807208"/>
            <a:ext cx="548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5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0.584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11192256" y="2807208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D79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59.5×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852160" y="3465576"/>
            <a:ext cx="5852160" cy="658368"/>
          </a:xfrm>
          <a:prstGeom prst="rect">
            <a:avLst/>
          </a:prstGeom>
          <a:solidFill>
            <a:srgbClr val="F8F4F5"/>
          </a:solidFill>
          <a:ln w="6350">
            <a:solidFill>
              <a:srgbClr val="E9DFE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980176" y="3465576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5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Sparkling Lemon Water +</a:t>
            </a:r>
            <a:endParaRPr lang="en-US" sz="10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5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Sparkling Water Grapefruit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8631936" y="3465576"/>
            <a:ext cx="1645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5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Lime Sparkling</a:t>
            </a:r>
            <a:endParaRPr lang="en-US" sz="10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5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10460736" y="3465576"/>
            <a:ext cx="548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5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0.551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11192256" y="3465576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D79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34.6×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5852160" y="4306824"/>
            <a:ext cx="5852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5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Lift above 1 indicates genuine association. These rules range from 28 to 107 times chance - strong enough for direct “frequently bought together” placement at checkout.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5852160" y="5038344"/>
            <a:ext cx="5852160" cy="1005840"/>
          </a:xfrm>
          <a:prstGeom prst="roundRect">
            <a:avLst>
              <a:gd name="adj" fmla="val 7273"/>
            </a:avLst>
          </a:prstGeom>
          <a:solidFill>
            <a:srgbClr val="241129"/>
          </a:solidFill>
          <a:ln/>
        </p:spPr>
      </p:sp>
      <p:sp>
        <p:nvSpPr>
          <p:cNvPr id="41" name="Text 39"/>
          <p:cNvSpPr/>
          <p:nvPr/>
        </p:nvSpPr>
        <p:spPr>
          <a:xfrm>
            <a:off x="6035040" y="5129784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basket size is only 6 items - order-level economics depend on attach rate, which is exactly what these rules are built to raise.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502920" y="654710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Commerce Intelligence  |  Big Data Analytics  |  NMIMS MBA Business Analytics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11247120" y="6547104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457200" cy="457200"/>
          </a:xfrm>
          <a:prstGeom prst="ellipse">
            <a:avLst/>
          </a:prstGeom>
          <a:solidFill>
            <a:srgbClr val="7C2048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11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143000" y="384048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7C2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INSIGHTS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43000" y="612648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251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Insights and Strategic Recommendations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2743200" cy="1691640"/>
          </a:xfrm>
          <a:prstGeom prst="roundRect">
            <a:avLst>
              <a:gd name="adj" fmla="val 4324"/>
            </a:avLst>
          </a:prstGeom>
          <a:solidFill>
            <a:srgbClr val="F8F4F5"/>
          </a:solidFill>
          <a:ln w="9525">
            <a:solidFill>
              <a:srgbClr val="E9DFE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" y="1618488"/>
            <a:ext cx="475488" cy="4754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C2048"/>
            </a:solidFill>
            <a:prstDash val="solid"/>
          </a:ln>
        </p:spPr>
      </p:sp>
      <p:pic>
        <p:nvPicPr>
          <p:cNvPr id="8" name="Image 0" descr="icons/repea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" y="1719072"/>
            <a:ext cx="274320" cy="2743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85800" y="221284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25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58.9% of demand is repeat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685800" y="2706624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7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Forecastable from a customer’s own history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3364992" y="1417320"/>
            <a:ext cx="2743200" cy="1691640"/>
          </a:xfrm>
          <a:prstGeom prst="roundRect">
            <a:avLst>
              <a:gd name="adj" fmla="val 4324"/>
            </a:avLst>
          </a:prstGeom>
          <a:solidFill>
            <a:srgbClr val="F8F4F5"/>
          </a:solidFill>
          <a:ln w="9525">
            <a:solidFill>
              <a:srgbClr val="E9DFE3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547872" y="1618488"/>
            <a:ext cx="475488" cy="4754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C2048"/>
            </a:solidFill>
            <a:prstDash val="solid"/>
          </a:ln>
        </p:spPr>
      </p:sp>
      <p:pic>
        <p:nvPicPr>
          <p:cNvPr id="13" name="Image 1" descr="icons/calenda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48456" y="1719072"/>
            <a:ext cx="274320" cy="2743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547872" y="221284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25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shop on rhythms</a:t>
            </a:r>
            <a:endParaRPr lang="en-US" sz="1250" dirty="0"/>
          </a:p>
        </p:txBody>
      </p:sp>
      <p:sp>
        <p:nvSpPr>
          <p:cNvPr id="15" name="Text 11"/>
          <p:cNvSpPr/>
          <p:nvPr/>
        </p:nvSpPr>
        <p:spPr>
          <a:xfrm>
            <a:off x="3547872" y="2706624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7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Spikes at 7, 14 and 30 days, not random timing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6227064" y="1417320"/>
            <a:ext cx="2743200" cy="1691640"/>
          </a:xfrm>
          <a:prstGeom prst="roundRect">
            <a:avLst>
              <a:gd name="adj" fmla="val 4324"/>
            </a:avLst>
          </a:prstGeom>
          <a:solidFill>
            <a:srgbClr val="F8F4F5"/>
          </a:solidFill>
          <a:ln w="9525">
            <a:solidFill>
              <a:srgbClr val="E9DFE3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6409944" y="1618488"/>
            <a:ext cx="475488" cy="4754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C2048"/>
            </a:solidFill>
            <a:prstDash val="solid"/>
          </a:ln>
        </p:spPr>
      </p:sp>
      <p:pic>
        <p:nvPicPr>
          <p:cNvPr id="18" name="Image 2" descr="icons/warehous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10528" y="1719072"/>
            <a:ext cx="274320" cy="27432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409944" y="221284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25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Departments differ 2× in loyalty</a:t>
            </a:r>
            <a:endParaRPr lang="en-US" sz="1250" dirty="0"/>
          </a:p>
        </p:txBody>
      </p:sp>
      <p:sp>
        <p:nvSpPr>
          <p:cNvPr id="20" name="Text 15"/>
          <p:cNvSpPr/>
          <p:nvPr/>
        </p:nvSpPr>
        <p:spPr>
          <a:xfrm>
            <a:off x="6409944" y="2706624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7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Dairy &amp; eggs 66.9% vs personal care 32.7%</a:t>
            </a:r>
            <a:endParaRPr lang="en-US" sz="950" dirty="0"/>
          </a:p>
        </p:txBody>
      </p:sp>
      <p:sp>
        <p:nvSpPr>
          <p:cNvPr id="21" name="Shape 16"/>
          <p:cNvSpPr/>
          <p:nvPr/>
        </p:nvSpPr>
        <p:spPr>
          <a:xfrm>
            <a:off x="9089136" y="1417320"/>
            <a:ext cx="2743200" cy="1691640"/>
          </a:xfrm>
          <a:prstGeom prst="roundRect">
            <a:avLst>
              <a:gd name="adj" fmla="val 4324"/>
            </a:avLst>
          </a:prstGeom>
          <a:solidFill>
            <a:srgbClr val="F8F4F5"/>
          </a:solidFill>
          <a:ln w="9525">
            <a:solidFill>
              <a:srgbClr val="E9DFE3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9272016" y="1618488"/>
            <a:ext cx="475488" cy="4754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C2048"/>
            </a:solidFill>
            <a:prstDash val="solid"/>
          </a:ln>
        </p:spPr>
      </p:sp>
      <p:pic>
        <p:nvPicPr>
          <p:cNvPr id="23" name="Image 3" descr="icons/layer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72600" y="1719072"/>
            <a:ext cx="274320" cy="27432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9272016" y="221284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25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Segments differ in kind</a:t>
            </a:r>
            <a:endParaRPr lang="en-US" sz="1250" dirty="0"/>
          </a:p>
        </p:txBody>
      </p:sp>
      <p:sp>
        <p:nvSpPr>
          <p:cNvPr id="25" name="Text 19"/>
          <p:cNvSpPr/>
          <p:nvPr/>
        </p:nvSpPr>
        <p:spPr>
          <a:xfrm>
            <a:off x="9272016" y="2706624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7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just volume - what and when they buy</a:t>
            </a:r>
            <a:endParaRPr lang="en-US" sz="950" dirty="0"/>
          </a:p>
        </p:txBody>
      </p:sp>
      <p:sp>
        <p:nvSpPr>
          <p:cNvPr id="26" name="Text 20"/>
          <p:cNvSpPr/>
          <p:nvPr/>
        </p:nvSpPr>
        <p:spPr>
          <a:xfrm>
            <a:off x="502920" y="327355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5A1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recommendations</a:t>
            </a:r>
            <a:endParaRPr lang="en-US" sz="1350" dirty="0"/>
          </a:p>
        </p:txBody>
      </p:sp>
      <p:sp>
        <p:nvSpPr>
          <p:cNvPr id="27" name="Shape 21"/>
          <p:cNvSpPr/>
          <p:nvPr/>
        </p:nvSpPr>
        <p:spPr>
          <a:xfrm>
            <a:off x="502920" y="3639312"/>
            <a:ext cx="11475720" cy="365760"/>
          </a:xfrm>
          <a:prstGeom prst="rect">
            <a:avLst/>
          </a:prstGeom>
          <a:solidFill>
            <a:srgbClr val="241129"/>
          </a:solidFill>
          <a:ln/>
        </p:spPr>
      </p:sp>
      <p:sp>
        <p:nvSpPr>
          <p:cNvPr id="28" name="Text 22"/>
          <p:cNvSpPr/>
          <p:nvPr/>
        </p:nvSpPr>
        <p:spPr>
          <a:xfrm>
            <a:off x="630936" y="3639312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</a:t>
            </a:r>
            <a:endParaRPr lang="en-US" sz="1150" dirty="0"/>
          </a:p>
        </p:txBody>
      </p:sp>
      <p:sp>
        <p:nvSpPr>
          <p:cNvPr id="29" name="Text 23"/>
          <p:cNvSpPr/>
          <p:nvPr/>
        </p:nvSpPr>
        <p:spPr>
          <a:xfrm>
            <a:off x="1088136" y="3639312"/>
            <a:ext cx="5376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1150" dirty="0"/>
          </a:p>
        </p:txBody>
      </p:sp>
      <p:sp>
        <p:nvSpPr>
          <p:cNvPr id="30" name="Text 24"/>
          <p:cNvSpPr/>
          <p:nvPr/>
        </p:nvSpPr>
        <p:spPr>
          <a:xfrm>
            <a:off x="6665976" y="3639312"/>
            <a:ext cx="3822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1150" dirty="0"/>
          </a:p>
        </p:txBody>
      </p:sp>
      <p:sp>
        <p:nvSpPr>
          <p:cNvPr id="31" name="Text 25"/>
          <p:cNvSpPr/>
          <p:nvPr/>
        </p:nvSpPr>
        <p:spPr>
          <a:xfrm>
            <a:off x="10689336" y="3639312"/>
            <a:ext cx="1216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1150" dirty="0"/>
          </a:p>
        </p:txBody>
      </p:sp>
      <p:sp>
        <p:nvSpPr>
          <p:cNvPr id="32" name="Shape 26"/>
          <p:cNvSpPr/>
          <p:nvPr/>
        </p:nvSpPr>
        <p:spPr>
          <a:xfrm>
            <a:off x="502920" y="4005072"/>
            <a:ext cx="11475720" cy="530352"/>
          </a:xfrm>
          <a:prstGeom prst="rect">
            <a:avLst/>
          </a:prstGeom>
          <a:solidFill>
            <a:srgbClr val="F8F4F5"/>
          </a:solidFill>
          <a:ln w="6350">
            <a:solidFill>
              <a:srgbClr val="E9DFE3"/>
            </a:solidFill>
            <a:prstDash val="solid"/>
          </a:ln>
        </p:spPr>
      </p:sp>
      <p:sp>
        <p:nvSpPr>
          <p:cNvPr id="33" name="Text 27"/>
          <p:cNvSpPr/>
          <p:nvPr/>
        </p:nvSpPr>
        <p:spPr>
          <a:xfrm>
            <a:off x="630936" y="4005072"/>
            <a:ext cx="2560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050" b="1" dirty="0">
                <a:solidFill>
                  <a:srgbClr val="D79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50" dirty="0"/>
          </a:p>
        </p:txBody>
      </p:sp>
      <p:sp>
        <p:nvSpPr>
          <p:cNvPr id="34" name="Text 28"/>
          <p:cNvSpPr/>
          <p:nvPr/>
        </p:nvSpPr>
        <p:spPr>
          <a:xfrm>
            <a:off x="1088136" y="4005072"/>
            <a:ext cx="53766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25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Pre-position dark store inventory using predicted reorder probability at the 0.20 threshold</a:t>
            </a:r>
            <a:endParaRPr lang="en-US" sz="1050" dirty="0"/>
          </a:p>
        </p:txBody>
      </p:sp>
      <p:sp>
        <p:nvSpPr>
          <p:cNvPr id="35" name="Text 29"/>
          <p:cNvSpPr/>
          <p:nvPr/>
        </p:nvSpPr>
        <p:spPr>
          <a:xfrm>
            <a:off x="6665976" y="4005072"/>
            <a:ext cx="38221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25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AUC-ROC 0.826; F1 improves 1.6×</a:t>
            </a:r>
            <a:endParaRPr lang="en-US" sz="1050" dirty="0"/>
          </a:p>
        </p:txBody>
      </p:sp>
      <p:sp>
        <p:nvSpPr>
          <p:cNvPr id="36" name="Text 30"/>
          <p:cNvSpPr/>
          <p:nvPr/>
        </p:nvSpPr>
        <p:spPr>
          <a:xfrm>
            <a:off x="10689336" y="4005072"/>
            <a:ext cx="12161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25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</a:t>
            </a:r>
            <a:endParaRPr lang="en-US" sz="1050" dirty="0"/>
          </a:p>
        </p:txBody>
      </p:sp>
      <p:sp>
        <p:nvSpPr>
          <p:cNvPr id="37" name="Shape 31"/>
          <p:cNvSpPr/>
          <p:nvPr/>
        </p:nvSpPr>
        <p:spPr>
          <a:xfrm>
            <a:off x="502920" y="4535424"/>
            <a:ext cx="1147572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9DFE3"/>
            </a:solidFill>
            <a:prstDash val="solid"/>
          </a:ln>
        </p:spPr>
      </p:sp>
      <p:sp>
        <p:nvSpPr>
          <p:cNvPr id="38" name="Text 32"/>
          <p:cNvSpPr/>
          <p:nvPr/>
        </p:nvSpPr>
        <p:spPr>
          <a:xfrm>
            <a:off x="630936" y="4535424"/>
            <a:ext cx="2560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050" b="1" dirty="0">
                <a:solidFill>
                  <a:srgbClr val="D79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50" dirty="0"/>
          </a:p>
        </p:txBody>
      </p:sp>
      <p:sp>
        <p:nvSpPr>
          <p:cNvPr id="39" name="Text 33"/>
          <p:cNvSpPr/>
          <p:nvPr/>
        </p:nvSpPr>
        <p:spPr>
          <a:xfrm>
            <a:off x="1088136" y="4535424"/>
            <a:ext cx="53766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25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Reallocate shelf space toward high-reorder departments, not gross popularity</a:t>
            </a:r>
            <a:endParaRPr lang="en-US" sz="1050" dirty="0"/>
          </a:p>
        </p:txBody>
      </p:sp>
      <p:sp>
        <p:nvSpPr>
          <p:cNvPr id="40" name="Text 34"/>
          <p:cNvSpPr/>
          <p:nvPr/>
        </p:nvSpPr>
        <p:spPr>
          <a:xfrm>
            <a:off x="6665976" y="4535424"/>
            <a:ext cx="38221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25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Dairy &amp; eggs 66.9% vs personal care 32.7%</a:t>
            </a:r>
            <a:endParaRPr lang="en-US" sz="1050" dirty="0"/>
          </a:p>
        </p:txBody>
      </p:sp>
      <p:sp>
        <p:nvSpPr>
          <p:cNvPr id="41" name="Text 35"/>
          <p:cNvSpPr/>
          <p:nvPr/>
        </p:nvSpPr>
        <p:spPr>
          <a:xfrm>
            <a:off x="10689336" y="4535424"/>
            <a:ext cx="12161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25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</a:t>
            </a:r>
            <a:endParaRPr lang="en-US" sz="1050" dirty="0"/>
          </a:p>
        </p:txBody>
      </p:sp>
      <p:sp>
        <p:nvSpPr>
          <p:cNvPr id="42" name="Shape 36"/>
          <p:cNvSpPr/>
          <p:nvPr/>
        </p:nvSpPr>
        <p:spPr>
          <a:xfrm>
            <a:off x="502920" y="5065776"/>
            <a:ext cx="11475720" cy="530352"/>
          </a:xfrm>
          <a:prstGeom prst="rect">
            <a:avLst/>
          </a:prstGeom>
          <a:solidFill>
            <a:srgbClr val="F8F4F5"/>
          </a:solidFill>
          <a:ln w="6350">
            <a:solidFill>
              <a:srgbClr val="E9DFE3"/>
            </a:solidFill>
            <a:prstDash val="solid"/>
          </a:ln>
        </p:spPr>
      </p:sp>
      <p:sp>
        <p:nvSpPr>
          <p:cNvPr id="43" name="Text 37"/>
          <p:cNvSpPr/>
          <p:nvPr/>
        </p:nvSpPr>
        <p:spPr>
          <a:xfrm>
            <a:off x="630936" y="5065776"/>
            <a:ext cx="2560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050" b="1" dirty="0">
                <a:solidFill>
                  <a:srgbClr val="D79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50" dirty="0"/>
          </a:p>
        </p:txBody>
      </p:sp>
      <p:sp>
        <p:nvSpPr>
          <p:cNvPr id="44" name="Text 38"/>
          <p:cNvSpPr/>
          <p:nvPr/>
        </p:nvSpPr>
        <p:spPr>
          <a:xfrm>
            <a:off x="1088136" y="5065776"/>
            <a:ext cx="53766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25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FP-Growth checkout suggestions to raise attach rate</a:t>
            </a:r>
            <a:endParaRPr lang="en-US" sz="1050" dirty="0"/>
          </a:p>
        </p:txBody>
      </p:sp>
      <p:sp>
        <p:nvSpPr>
          <p:cNvPr id="45" name="Text 39"/>
          <p:cNvSpPr/>
          <p:nvPr/>
        </p:nvSpPr>
        <p:spPr>
          <a:xfrm>
            <a:off x="6665976" y="5065776"/>
            <a:ext cx="38221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25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2,056 rules; median basket only 6 items</a:t>
            </a:r>
            <a:endParaRPr lang="en-US" sz="1050" dirty="0"/>
          </a:p>
        </p:txBody>
      </p:sp>
      <p:sp>
        <p:nvSpPr>
          <p:cNvPr id="46" name="Text 40"/>
          <p:cNvSpPr/>
          <p:nvPr/>
        </p:nvSpPr>
        <p:spPr>
          <a:xfrm>
            <a:off x="10689336" y="5065776"/>
            <a:ext cx="12161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25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1050" dirty="0"/>
          </a:p>
        </p:txBody>
      </p:sp>
      <p:sp>
        <p:nvSpPr>
          <p:cNvPr id="47" name="Shape 41"/>
          <p:cNvSpPr/>
          <p:nvPr/>
        </p:nvSpPr>
        <p:spPr>
          <a:xfrm>
            <a:off x="502920" y="5596128"/>
            <a:ext cx="1147572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9DFE3"/>
            </a:solidFill>
            <a:prstDash val="solid"/>
          </a:ln>
        </p:spPr>
      </p:sp>
      <p:sp>
        <p:nvSpPr>
          <p:cNvPr id="48" name="Text 42"/>
          <p:cNvSpPr/>
          <p:nvPr/>
        </p:nvSpPr>
        <p:spPr>
          <a:xfrm>
            <a:off x="630936" y="5596128"/>
            <a:ext cx="2560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050" b="1" dirty="0">
                <a:solidFill>
                  <a:srgbClr val="D79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50" dirty="0"/>
          </a:p>
        </p:txBody>
      </p:sp>
      <p:sp>
        <p:nvSpPr>
          <p:cNvPr id="49" name="Text 43"/>
          <p:cNvSpPr/>
          <p:nvPr/>
        </p:nvSpPr>
        <p:spPr>
          <a:xfrm>
            <a:off x="1088136" y="5596128"/>
            <a:ext cx="53766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25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differentiated campaigns across the four behavioural segments</a:t>
            </a:r>
            <a:endParaRPr lang="en-US" sz="1050" dirty="0"/>
          </a:p>
        </p:txBody>
      </p:sp>
      <p:sp>
        <p:nvSpPr>
          <p:cNvPr id="50" name="Text 44"/>
          <p:cNvSpPr/>
          <p:nvPr/>
        </p:nvSpPr>
        <p:spPr>
          <a:xfrm>
            <a:off x="6665976" y="5596128"/>
            <a:ext cx="38221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25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Segments differ in category mix and order regularity</a:t>
            </a:r>
            <a:endParaRPr lang="en-US" sz="1050" dirty="0"/>
          </a:p>
        </p:txBody>
      </p:sp>
      <p:sp>
        <p:nvSpPr>
          <p:cNvPr id="51" name="Text 45"/>
          <p:cNvSpPr/>
          <p:nvPr/>
        </p:nvSpPr>
        <p:spPr>
          <a:xfrm>
            <a:off x="10689336" y="5596128"/>
            <a:ext cx="12161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25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</a:t>
            </a:r>
            <a:endParaRPr lang="en-US" sz="1050" dirty="0"/>
          </a:p>
        </p:txBody>
      </p:sp>
      <p:sp>
        <p:nvSpPr>
          <p:cNvPr id="52" name="Text 46"/>
          <p:cNvSpPr/>
          <p:nvPr/>
        </p:nvSpPr>
        <p:spPr>
          <a:xfrm>
            <a:off x="502920" y="654710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Commerce Intelligence  |  Big Data Analytics  |  NMIMS MBA Business Analytics</a:t>
            </a:r>
            <a:endParaRPr lang="en-US" sz="900" dirty="0"/>
          </a:p>
        </p:txBody>
      </p:sp>
      <p:sp>
        <p:nvSpPr>
          <p:cNvPr id="53" name="Text 47"/>
          <p:cNvSpPr/>
          <p:nvPr/>
        </p:nvSpPr>
        <p:spPr>
          <a:xfrm>
            <a:off x="11247120" y="6547104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411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-2286000"/>
            <a:ext cx="5486400" cy="5486400"/>
          </a:xfrm>
          <a:prstGeom prst="ellipse">
            <a:avLst/>
          </a:prstGeom>
          <a:solidFill>
            <a:srgbClr val="7C2048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457200"/>
            <a:ext cx="457200" cy="457200"/>
          </a:xfrm>
          <a:prstGeom prst="ellipse">
            <a:avLst/>
          </a:prstGeom>
          <a:solidFill>
            <a:srgbClr val="7C2048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457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143000" y="429768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3B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 AND ROADMAP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143000" y="630936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Should Happen Next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502920" y="146304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3B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risks and mitigations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02920" y="1828800"/>
            <a:ext cx="4937760" cy="896112"/>
          </a:xfrm>
          <a:prstGeom prst="roundRect">
            <a:avLst>
              <a:gd name="adj" fmla="val 6122"/>
            </a:avLst>
          </a:prstGeom>
          <a:solidFill>
            <a:srgbClr val="FFFFFF">
              <a:alpha val="7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667512" y="1920240"/>
            <a:ext cx="46085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D79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grocery data, Indian framing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67512" y="2212848"/>
            <a:ext cx="46085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AD7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is platform-agnostic; retrain on platform data before deployment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" y="2834640"/>
            <a:ext cx="4937760" cy="896112"/>
          </a:xfrm>
          <a:prstGeom prst="roundRect">
            <a:avLst>
              <a:gd name="adj" fmla="val 6122"/>
            </a:avLst>
          </a:prstGeom>
          <a:solidFill>
            <a:srgbClr val="FFFFFF">
              <a:alpha val="7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667512" y="2926080"/>
            <a:ext cx="46085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D79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on a 20,000-customer sample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67512" y="3218688"/>
            <a:ext cx="46085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AD7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parameterised; rerun on the full 206,000-customer cohort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2920" y="3840480"/>
            <a:ext cx="4937760" cy="896112"/>
          </a:xfrm>
          <a:prstGeom prst="roundRect">
            <a:avLst>
              <a:gd name="adj" fmla="val 6122"/>
            </a:avLst>
          </a:prstGeom>
          <a:solidFill>
            <a:srgbClr val="FFFFFF">
              <a:alpha val="7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667512" y="3931920"/>
            <a:ext cx="46085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D79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skew toward flavour variants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67512" y="4224528"/>
            <a:ext cx="46085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AD7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FP-Growth to aisle and department level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806440" y="1463040"/>
            <a:ext cx="5897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3B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492240" y="2148840"/>
            <a:ext cx="4526280" cy="0"/>
          </a:xfrm>
          <a:prstGeom prst="line">
            <a:avLst/>
          </a:prstGeom>
          <a:noFill/>
          <a:ln w="19050">
            <a:solidFill>
              <a:srgbClr val="5A3B48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>
            <a:off x="6391656" y="2048256"/>
            <a:ext cx="201168" cy="201168"/>
          </a:xfrm>
          <a:prstGeom prst="ellipse">
            <a:avLst/>
          </a:prstGeom>
          <a:solidFill>
            <a:srgbClr val="D79A3C"/>
          </a:solidFill>
          <a:ln/>
        </p:spPr>
      </p:sp>
      <p:sp>
        <p:nvSpPr>
          <p:cNvPr id="20" name="Text 18"/>
          <p:cNvSpPr/>
          <p:nvPr/>
        </p:nvSpPr>
        <p:spPr>
          <a:xfrm>
            <a:off x="5669280" y="23317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806440" y="2651760"/>
            <a:ext cx="1371600" cy="1417320"/>
          </a:xfrm>
          <a:prstGeom prst="roundRect">
            <a:avLst>
              <a:gd name="adj" fmla="val 4000"/>
            </a:avLst>
          </a:prstGeom>
          <a:solidFill>
            <a:srgbClr val="FFFFFF">
              <a:alpha val="7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5897880" y="2724912"/>
            <a:ext cx="1188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00" dirty="0">
                <a:solidFill>
                  <a:srgbClr val="EAD7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206K-customer run; aisle-level FP-Growth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900416" y="2048256"/>
            <a:ext cx="201168" cy="201168"/>
          </a:xfrm>
          <a:prstGeom prst="ellipse">
            <a:avLst/>
          </a:prstGeom>
          <a:solidFill>
            <a:srgbClr val="D79A3C"/>
          </a:solidFill>
          <a:ln/>
        </p:spPr>
      </p:sp>
      <p:sp>
        <p:nvSpPr>
          <p:cNvPr id="24" name="Text 22"/>
          <p:cNvSpPr/>
          <p:nvPr/>
        </p:nvSpPr>
        <p:spPr>
          <a:xfrm>
            <a:off x="7178040" y="23317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 term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7315200" y="2651760"/>
            <a:ext cx="1371600" cy="1417320"/>
          </a:xfrm>
          <a:prstGeom prst="roundRect">
            <a:avLst>
              <a:gd name="adj" fmla="val 4000"/>
            </a:avLst>
          </a:prstGeom>
          <a:solidFill>
            <a:srgbClr val="FFFFFF">
              <a:alpha val="7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7406640" y="2724912"/>
            <a:ext cx="1188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00" dirty="0">
                <a:solidFill>
                  <a:srgbClr val="EAD7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A/B test checkout suggestions in production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9409176" y="2048256"/>
            <a:ext cx="201168" cy="201168"/>
          </a:xfrm>
          <a:prstGeom prst="ellipse">
            <a:avLst/>
          </a:prstGeom>
          <a:solidFill>
            <a:srgbClr val="D79A3C"/>
          </a:solidFill>
          <a:ln/>
        </p:spPr>
      </p:sp>
      <p:sp>
        <p:nvSpPr>
          <p:cNvPr id="28" name="Text 26"/>
          <p:cNvSpPr/>
          <p:nvPr/>
        </p:nvSpPr>
        <p:spPr>
          <a:xfrm>
            <a:off x="8686800" y="23317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term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8823960" y="2651760"/>
            <a:ext cx="1371600" cy="1417320"/>
          </a:xfrm>
          <a:prstGeom prst="roundRect">
            <a:avLst>
              <a:gd name="adj" fmla="val 4000"/>
            </a:avLst>
          </a:prstGeom>
          <a:solidFill>
            <a:srgbClr val="FFFFFF">
              <a:alpha val="7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8915400" y="2724912"/>
            <a:ext cx="1188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00" dirty="0">
                <a:solidFill>
                  <a:srgbClr val="EAD7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streaming ingestion; real-time features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0917936" y="2048256"/>
            <a:ext cx="201168" cy="201168"/>
          </a:xfrm>
          <a:prstGeom prst="ellipse">
            <a:avLst/>
          </a:prstGeom>
          <a:solidFill>
            <a:srgbClr val="D79A3C"/>
          </a:solidFill>
          <a:ln/>
        </p:spPr>
      </p:sp>
      <p:sp>
        <p:nvSpPr>
          <p:cNvPr id="32" name="Text 30"/>
          <p:cNvSpPr/>
          <p:nvPr/>
        </p:nvSpPr>
        <p:spPr>
          <a:xfrm>
            <a:off x="10195560" y="23317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Longer term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10332720" y="2651760"/>
            <a:ext cx="1371600" cy="1417320"/>
          </a:xfrm>
          <a:prstGeom prst="roundRect">
            <a:avLst>
              <a:gd name="adj" fmla="val 4000"/>
            </a:avLst>
          </a:prstGeom>
          <a:solidFill>
            <a:srgbClr val="FFFFFF">
              <a:alpha val="7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10424160" y="2724912"/>
            <a:ext cx="1188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00" dirty="0">
                <a:solidFill>
                  <a:srgbClr val="EAD7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Retrain on Indian platform data; dark store forecasting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5806440" y="4343400"/>
            <a:ext cx="5897880" cy="1508760"/>
          </a:xfrm>
          <a:prstGeom prst="roundRect">
            <a:avLst>
              <a:gd name="adj" fmla="val 4848"/>
            </a:avLst>
          </a:prstGeom>
          <a:solidFill>
            <a:srgbClr val="7C2048"/>
          </a:solidFill>
          <a:ln/>
        </p:spPr>
      </p:sp>
      <p:sp>
        <p:nvSpPr>
          <p:cNvPr id="36" name="Text 34"/>
          <p:cNvSpPr/>
          <p:nvPr/>
        </p:nvSpPr>
        <p:spPr>
          <a:xfrm>
            <a:off x="6035040" y="4480560"/>
            <a:ext cx="5440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DD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LINE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035040" y="4754880"/>
            <a:ext cx="5440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four-phase Big Data pipeline turns 3.15 million records into three deployable decisions: what to stock, who to target, and what to bundle - built on distributed infrastructure that scales to the full 32-million-record dataset.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502920" y="6080760"/>
            <a:ext cx="11201400" cy="0"/>
          </a:xfrm>
          <a:prstGeom prst="line">
            <a:avLst/>
          </a:prstGeom>
          <a:noFill/>
          <a:ln w="12700">
            <a:solidFill>
              <a:srgbClr val="3B253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02920" y="62179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2200" dirty="0"/>
          </a:p>
        </p:txBody>
      </p:sp>
      <p:sp>
        <p:nvSpPr>
          <p:cNvPr id="40" name="Text 38"/>
          <p:cNvSpPr/>
          <p:nvPr/>
        </p:nvSpPr>
        <p:spPr>
          <a:xfrm>
            <a:off x="4389120" y="63093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dirty="0">
                <a:solidFill>
                  <a:srgbClr val="C7A2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welcome  -  Group 7, NMIMS School of Business Management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2379</Words>
  <Application>Microsoft Office PowerPoint</Application>
  <PresentationFormat>Widescreen</PresentationFormat>
  <Paragraphs>248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Abhik Mondal</cp:lastModifiedBy>
  <cp:revision>6</cp:revision>
  <dcterms:created xsi:type="dcterms:W3CDTF">2026-09-09T22:21:40Z</dcterms:created>
  <dcterms:modified xsi:type="dcterms:W3CDTF">2026-09-11T08:11:52Z</dcterms:modified>
</cp:coreProperties>
</file>